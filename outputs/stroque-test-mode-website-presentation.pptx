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a974cc9d6d49ff" /><Relationship Type="http://schemas.openxmlformats.org/officeDocument/2006/relationships/extended-properties" Target="/docProps/app.xml" Id="R261eaf1a76cd4a17" /><Relationship Type="http://schemas.openxmlformats.org/officeDocument/2006/relationships/officeDocument" Target="/ppt/presentation.xml" Id="R5b7724d96b8443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7c7a9b70e34a65"/>
  </p:sldMasterIdLst>
  <p:notesMasterIdLst>
    <p:notesMasterId xmlns:r="http://schemas.openxmlformats.org/officeDocument/2006/relationships" r:id="Rd1b3f133b18a483b"/>
  </p:notesMasterIdLst>
  <p:sldIdLst>
    <p:sldId xmlns:r="http://schemas.openxmlformats.org/officeDocument/2006/relationships" id="256" r:id="Rbf47f787094b4258"/>
    <p:sldId xmlns:r="http://schemas.openxmlformats.org/officeDocument/2006/relationships" id="257" r:id="R7a20395a073e4ac6"/>
    <p:sldId xmlns:r="http://schemas.openxmlformats.org/officeDocument/2006/relationships" id="258" r:id="R71b3eccf0f914bbc"/>
    <p:sldId xmlns:r="http://schemas.openxmlformats.org/officeDocument/2006/relationships" id="259" r:id="Ra180735e93fa4995"/>
    <p:sldId xmlns:r="http://schemas.openxmlformats.org/officeDocument/2006/relationships" id="260" r:id="Rafe64a867cba458d"/>
    <p:sldId xmlns:r="http://schemas.openxmlformats.org/officeDocument/2006/relationships" id="261" r:id="R586b08e976e94498"/>
    <p:sldId xmlns:r="http://schemas.openxmlformats.org/officeDocument/2006/relationships" id="262" r:id="R673df8e9e61141f0"/>
    <p:sldId xmlns:r="http://schemas.openxmlformats.org/officeDocument/2006/relationships" id="263" r:id="R53cee1b334a148fd"/>
    <p:sldId xmlns:r="http://schemas.openxmlformats.org/officeDocument/2006/relationships" id="264" r:id="R4be866c212f74092"/>
    <p:sldId xmlns:r="http://schemas.openxmlformats.org/officeDocument/2006/relationships" id="265" r:id="R9493ec929a9e409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90938029224050" /><Relationship Type="http://schemas.openxmlformats.org/officeDocument/2006/relationships/slideMaster" Target="/ppt/slideMasters/slideMaster1.xml" Id="R9f7c7a9b70e34a65" /><Relationship Type="http://schemas.openxmlformats.org/officeDocument/2006/relationships/notesMaster" Target="/ppt/notesMasters/notesMaster1.xml" Id="Rd1b3f133b18a483b" /><Relationship Type="http://schemas.openxmlformats.org/officeDocument/2006/relationships/presProps" Target="/ppt/presProps.xml" Id="R414c84401e3a44bc" /><Relationship Type="http://schemas.openxmlformats.org/officeDocument/2006/relationships/tableStyles" Target="/ppt/tableStyles.xml" Id="Rfc42d3876b714889" /><Relationship Type="http://schemas.openxmlformats.org/officeDocument/2006/relationships/slide" Target="/ppt/slides/slide1.xml" Id="Rbf47f787094b4258" /><Relationship Type="http://schemas.openxmlformats.org/officeDocument/2006/relationships/slide" Target="/ppt/slides/slide2.xml" Id="R7a20395a073e4ac6" /><Relationship Type="http://schemas.openxmlformats.org/officeDocument/2006/relationships/slide" Target="/ppt/slides/slide3.xml" Id="R71b3eccf0f914bbc" /><Relationship Type="http://schemas.openxmlformats.org/officeDocument/2006/relationships/slide" Target="/ppt/slides/slide4.xml" Id="Ra180735e93fa4995" /><Relationship Type="http://schemas.openxmlformats.org/officeDocument/2006/relationships/slide" Target="/ppt/slides/slide5.xml" Id="Rafe64a867cba458d" /><Relationship Type="http://schemas.openxmlformats.org/officeDocument/2006/relationships/slide" Target="/ppt/slides/slide6.xml" Id="R586b08e976e94498" /><Relationship Type="http://schemas.openxmlformats.org/officeDocument/2006/relationships/slide" Target="/ppt/slides/slide7.xml" Id="R673df8e9e61141f0" /><Relationship Type="http://schemas.openxmlformats.org/officeDocument/2006/relationships/slide" Target="/ppt/slides/slide8.xml" Id="R53cee1b334a148fd" /><Relationship Type="http://schemas.openxmlformats.org/officeDocument/2006/relationships/slide" Target="/ppt/slides/slide9.xml" Id="R4be866c212f74092" /><Relationship Type="http://schemas.openxmlformats.org/officeDocument/2006/relationships/slide" Target="/ppt/slides/slide10.xml" Id="R9493ec929a9e40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aa61b3ecc24e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cba977f3e740f4" /><Relationship Type="http://schemas.openxmlformats.org/officeDocument/2006/relationships/notesMaster" Target="/ppt/notesMasters/notesMaster1.xml" Id="R8c50d91c65b542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49adb107144665" /><Relationship Type="http://schemas.openxmlformats.org/officeDocument/2006/relationships/notesMaster" Target="/ppt/notesMasters/notesMaster1.xml" Id="R3929e67bf8af4b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04b18f757d40b4" /><Relationship Type="http://schemas.openxmlformats.org/officeDocument/2006/relationships/notesMaster" Target="/ppt/notesMasters/notesMaster1.xml" Id="R8e5ea9fc7c1c40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fec939f23c46e3" /><Relationship Type="http://schemas.openxmlformats.org/officeDocument/2006/relationships/notesMaster" Target="/ppt/notesMasters/notesMaster1.xml" Id="R368e0c5d58cf47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38b245608a447d" /><Relationship Type="http://schemas.openxmlformats.org/officeDocument/2006/relationships/notesMaster" Target="/ppt/notesMasters/notesMaster1.xml" Id="R08f428d17cc343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58aebef8b94e00" /><Relationship Type="http://schemas.openxmlformats.org/officeDocument/2006/relationships/notesMaster" Target="/ppt/notesMasters/notesMaster1.xml" Id="Rc3759e30690b43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03b8b921274e92" /><Relationship Type="http://schemas.openxmlformats.org/officeDocument/2006/relationships/notesMaster" Target="/ppt/notesMasters/notesMaster1.xml" Id="Rbe65f5218fb34b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5c7592bb324453" /><Relationship Type="http://schemas.openxmlformats.org/officeDocument/2006/relationships/notesMaster" Target="/ppt/notesMasters/notesMaster1.xml" Id="R62aa9e7e006549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709b82db754872" /><Relationship Type="http://schemas.openxmlformats.org/officeDocument/2006/relationships/notesMaster" Target="/ppt/notesMasters/notesMaster1.xml" Id="R2234687ba9a64a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5118ed5c9e451e" /><Relationship Type="http://schemas.openxmlformats.org/officeDocument/2006/relationships/notesMaster" Target="/ppt/notesMasters/notesMaster1.xml" Id="R74216388652149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3a470896941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5af71558ca47f4" /><Relationship Type="http://schemas.openxmlformats.org/officeDocument/2006/relationships/slideLayout" Target="/ppt/slideLayouts/slideLayout1.xml" Id="Rff41b40114f144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41b40114f144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4b9f0c29d48b9" /><Relationship Type="http://schemas.openxmlformats.org/officeDocument/2006/relationships/image" Target="/ppt/media/image.jpeg" Id="R19bcf2e164f14e15" /><Relationship Type="http://schemas.openxmlformats.org/officeDocument/2006/relationships/notesSlide" Target="/ppt/notesSlides/notesSlide1.xml" Id="Rde7fa3babb6c4b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10aa546ed4775" /><Relationship Type="http://schemas.openxmlformats.org/officeDocument/2006/relationships/image" Target="/ppt/media/image2.jpeg" Id="R920f24064018433f" /><Relationship Type="http://schemas.openxmlformats.org/officeDocument/2006/relationships/notesSlide" Target="/ppt/notesSlides/notesSlide2.xml" Id="R6fa17996baa049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c87fc799446b0" /><Relationship Type="http://schemas.openxmlformats.org/officeDocument/2006/relationships/image" Target="/ppt/media/image3.jpeg" Id="R141e2ae0c75546d6" /><Relationship Type="http://schemas.openxmlformats.org/officeDocument/2006/relationships/image" Target="/ppt/media/image4.jpeg" Id="Ref4c9cf2e4324e26" /><Relationship Type="http://schemas.openxmlformats.org/officeDocument/2006/relationships/image" Target="/ppt/media/image5.jpeg" Id="R10065f09a1ba4a06" /><Relationship Type="http://schemas.openxmlformats.org/officeDocument/2006/relationships/notesSlide" Target="/ppt/notesSlides/notesSlide3.xml" Id="Re62d3f0f07de4b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a1cce97f547e8" /><Relationship Type="http://schemas.openxmlformats.org/officeDocument/2006/relationships/image" Target="/ppt/media/image6.jpeg" Id="R8df44d0f73d74370" /><Relationship Type="http://schemas.openxmlformats.org/officeDocument/2006/relationships/image" Target="/ppt/media/image7.jpeg" Id="R7acb8a6770d14707" /><Relationship Type="http://schemas.openxmlformats.org/officeDocument/2006/relationships/notesSlide" Target="/ppt/notesSlides/notesSlide4.xml" Id="R1c157fecf5324e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cc443aaa34834" /><Relationship Type="http://schemas.openxmlformats.org/officeDocument/2006/relationships/image" Target="/ppt/media/image8.jpeg" Id="R8e2cabbb61764722" /><Relationship Type="http://schemas.openxmlformats.org/officeDocument/2006/relationships/image" Target="/ppt/media/image9.jpeg" Id="R64138a3b76ca414e" /><Relationship Type="http://schemas.openxmlformats.org/officeDocument/2006/relationships/notesSlide" Target="/ppt/notesSlides/notesSlide5.xml" Id="R49102ec11bfe4a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52f68eeb14011" /><Relationship Type="http://schemas.openxmlformats.org/officeDocument/2006/relationships/image" Target="/ppt/media/image10.jpeg" Id="R82d3edde51224f1e" /><Relationship Type="http://schemas.openxmlformats.org/officeDocument/2006/relationships/image" Target="/ppt/media/image11.jpeg" Id="Rc631a9b26a02472c" /><Relationship Type="http://schemas.openxmlformats.org/officeDocument/2006/relationships/notesSlide" Target="/ppt/notesSlides/notesSlide6.xml" Id="Ref65bd5d11584d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291f2d55d4e33" /><Relationship Type="http://schemas.openxmlformats.org/officeDocument/2006/relationships/image" Target="/ppt/media/image12.jpeg" Id="R81158a6145bc4ed9" /><Relationship Type="http://schemas.openxmlformats.org/officeDocument/2006/relationships/image" Target="/ppt/media/image13.jpeg" Id="R55eef5bd17d248c7" /><Relationship Type="http://schemas.openxmlformats.org/officeDocument/2006/relationships/notesSlide" Target="/ppt/notesSlides/notesSlide7.xml" Id="Rb683d28d4fda46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b32ee85d4433b" /><Relationship Type="http://schemas.openxmlformats.org/officeDocument/2006/relationships/image" Target="/ppt/media/image14.jpeg" Id="Rb156bafbdded4bf0" /><Relationship Type="http://schemas.openxmlformats.org/officeDocument/2006/relationships/image" Target="/ppt/media/image15.jpeg" Id="R6c148f6f865d48de" /><Relationship Type="http://schemas.openxmlformats.org/officeDocument/2006/relationships/notesSlide" Target="/ppt/notesSlides/notesSlide8.xml" Id="Rb444f3d26a314a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fc9b05798486f" /><Relationship Type="http://schemas.openxmlformats.org/officeDocument/2006/relationships/image" Target="/ppt/media/image16.jpeg" Id="R061f7e5a32e14b66" /><Relationship Type="http://schemas.openxmlformats.org/officeDocument/2006/relationships/image" Target="/ppt/media/image17.jpeg" Id="Rfbc5d6d37c584d43" /><Relationship Type="http://schemas.openxmlformats.org/officeDocument/2006/relationships/notesSlide" Target="/ppt/notesSlides/notesSlide9.xml" Id="R22094f989f7f4b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e4c1a2801449f" /><Relationship Type="http://schemas.openxmlformats.org/officeDocument/2006/relationships/notesSlide" Target="/ppt/notesSlides/notesSlide10.xml" Id="Rcca19928e4e64d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cf2e164f14e15"/>
          <a:srcRect xmlns:a="http://schemas.openxmlformats.org/drawingml/2006/main" l="12267" t="0" r="122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0"/>
            <a:ext cx="5715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left">
            <a:extLst xmlns:a="http://schemas.openxmlformats.org/drawingml/2006/main">
              <a:ext uri="{FF2B5EF4-FFF2-40B4-BE49-F238E27FC236}">
                <a16:creationId xmlns:a16="http://schemas.microsoft.com/office/drawing/2014/main" id="{3C0870A0-A635-4E0F-9F13-A52B8E12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9161577-13CC-4BF8-BECA-699E73B2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86B5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86B50"/>
                </a:solidFill>
                <a:latin typeface="Aptos"/>
                <a:ea typeface="Aptos"/>
                <a:cs typeface="Aptos"/>
              </a:rPr>
              <a:t>PRO PRESENTATION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35FBDE8-31FB-45F7-80D2-39F54DB6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Stroque Art Portal</a:t>
            </a:r>
          </a:p>
        </p:txBody>
      </p:sp>
      <p:sp>
        <p:nvSpPr>
          <p:cNvPr id="5" name="cover-body">
            <a:extLst xmlns:a="http://schemas.openxmlformats.org/drawingml/2006/main">
              <a:ext uri="{FF2B5EF4-FFF2-40B4-BE49-F238E27FC236}">
                <a16:creationId xmlns:a16="http://schemas.microsoft.com/office/drawing/2014/main" id="{5638EABE-4A3E-4E2A-A4EF-329A7735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F5A52"/>
                </a:solidFill>
                <a:latin typeface="Aptos"/>
                <a:ea typeface="Aptos"/>
                <a:cs typeface="Aptos"/>
              </a:rPr>
              <a:t>A test-mode website walkthrough using live screenshots of the public pages, authentication screens, dashboards, and project request workflow.</a:t>
            </a:r>
          </a:p>
        </p:txBody>
      </p:sp>
      <p:sp>
        <p:nvSpPr>
          <p:cNvPr id="6" name="cover-note">
            <a:extLst xmlns:a="http://schemas.openxmlformats.org/drawingml/2006/main">
              <a:ext uri="{FF2B5EF4-FFF2-40B4-BE49-F238E27FC236}">
                <a16:creationId xmlns:a16="http://schemas.microsoft.com/office/drawing/2014/main" id="{BB98BFF9-1B99-4399-837A-E94FD5CB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6A4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96A4C"/>
                </a:solidFill>
                <a:latin typeface="Aptos"/>
                <a:ea typeface="Aptos"/>
                <a:cs typeface="Aptos"/>
              </a:rPr>
              <a:t>Evidence captured from the deployed site and local test-mode dashboard.</a:t>
            </a:r>
          </a:p>
        </p:txBody>
      </p:sp>
    </p:spTree>
    <p:extLst>
      <p:ext uri="{BB962C8B-B14F-4D97-AF65-F5344CB8AC3E}">
        <p14:creationId xmlns:p14="http://schemas.microsoft.com/office/powerpoint/2010/main" val="13591686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">
            <a:extLst xmlns:a="http://schemas.openxmlformats.org/drawingml/2006/main">
              <a:ext uri="{FF2B5EF4-FFF2-40B4-BE49-F238E27FC236}">
                <a16:creationId xmlns:a16="http://schemas.microsoft.com/office/drawing/2014/main" id="{304B4BDD-789F-4FB1-BAE5-2EBF8ECF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6B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86B50"/>
                </a:solidFill>
                <a:latin typeface="Aptos"/>
                <a:ea typeface="Aptos"/>
                <a:cs typeface="Aptos"/>
              </a:rPr>
              <a:t>NAVIGATION AND HERO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9136C16C-92FA-4761-A1DB-F1E1FAA3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676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first screen positions Stroque as a marketplace for commercial art projects.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6CF4DFA1-4B34-4260-BC13-54BFDDCE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716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5A52"/>
                </a:solidFill>
                <a:latin typeface="Aptos"/>
                <a:ea typeface="Aptos"/>
                <a:cs typeface="Aptos"/>
              </a:rPr>
              <a:t>The navigation keeps the primary routes visible while the hero explains who the product serves and what action to take next.</a:t>
            </a:r>
          </a:p>
        </p:txBody>
      </p:sp>
      <p:sp>
        <p:nvSpPr>
          <p:cNvPr id="4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AA66D317-69D4-4560-A9F8-BC5F121C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5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92D04C42-0B8B-4CFF-94FB-9DB1B040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5A52"/>
                </a:solidFill>
                <a:latin typeface="Aptos"/>
                <a:ea typeface="Aptos"/>
                <a:cs typeface="Aptos"/>
              </a:rPr>
              <a:t>Source: stroque-art-portal.vercel.app and test-mode local dashboard</a:t>
            </a:r>
          </a:p>
        </p:txBody>
      </p:sp>
      <p:sp>
        <p:nvSpPr>
          <p:cNvPr id="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1C6553AD-2456-41C2-AAA3-74AA6C6D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5A5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f24064018433f"/>
          <a:stretch xmlns:a="http://schemas.openxmlformats.org/drawingml/2006/main"/>
        </p:blipFill>
        <p:spPr>
          <a:xfrm xmlns:a="http://schemas.openxmlformats.org/drawingml/2006/main">
            <a:off x="6953250" y="595566"/>
            <a:ext cx="4343400" cy="3933318"/>
          </a:xfrm>
          <a:prstGeom xmlns:a="http://schemas.openxmlformats.org/drawingml/2006/main" prst="rect">
            <a:avLst/>
          </a:prstGeom>
        </p:spPr>
      </p:pic>
      <p:sp>
        <p:nvSpPr>
          <p:cNvPr id="8" name="nav-box">
            <a:extLst xmlns:a="http://schemas.openxmlformats.org/drawingml/2006/main">
              <a:ext uri="{FF2B5EF4-FFF2-40B4-BE49-F238E27FC236}">
                <a16:creationId xmlns:a16="http://schemas.microsoft.com/office/drawing/2014/main" id="{B5D80706-80AC-48A4-A12F-6421754C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53340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nav-heading">
            <a:extLst xmlns:a="http://schemas.openxmlformats.org/drawingml/2006/main">
              <a:ext uri="{FF2B5EF4-FFF2-40B4-BE49-F238E27FC236}">
                <a16:creationId xmlns:a16="http://schemas.microsoft.com/office/drawing/2014/main" id="{0F2E220B-FE99-4F18-83C7-422AD1A2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What the screen proves</a:t>
            </a:r>
          </a:p>
        </p:txBody>
      </p:sp>
      <p:sp>
        <p:nvSpPr>
          <p:cNvPr id="10" name="nav-body">
            <a:extLst xmlns:a="http://schemas.openxmlformats.org/drawingml/2006/main">
              <a:ext uri="{FF2B5EF4-FFF2-40B4-BE49-F238E27FC236}">
                <a16:creationId xmlns:a16="http://schemas.microsoft.com/office/drawing/2014/main" id="{2458F2BB-AC5B-47CA-B1F7-3BBA9C3A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49149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5A52"/>
                </a:solidFill>
                <a:latin typeface="Aptos"/>
                <a:ea typeface="Aptos"/>
                <a:cs typeface="Aptos"/>
              </a:rPr>
              <a:t>Navbar: brand, Artists, Log in, Sign up.</a:t>
            </a:r>
          </a:p>
          <a:p xmlns:a="http://schemas.openxmlformats.org/drawingml/2006/main">
            <a:pPr algn="l">
              <a:defRPr sz="1275" b="0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5A52"/>
                </a:solidFill>
                <a:latin typeface="Aptos"/>
                <a:ea typeface="Aptos"/>
                <a:cs typeface="Aptos"/>
              </a:rPr>
              <a:t>Hero: clear business-space positioning.</a:t>
            </a:r>
          </a:p>
          <a:p xmlns:a="http://schemas.openxmlformats.org/drawingml/2006/main">
            <a:pPr algn="l">
              <a:defRPr sz="1275" b="0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5A52"/>
                </a:solidFill>
                <a:latin typeface="Aptos"/>
                <a:ea typeface="Aptos"/>
                <a:cs typeface="Aptos"/>
              </a:rPr>
              <a:t>Calls to action: Find Artists and Join as Artist.</a:t>
            </a:r>
          </a:p>
        </p:txBody>
      </p:sp>
    </p:spTree>
    <p:extLst>
      <p:ext uri="{BB962C8B-B14F-4D97-AF65-F5344CB8AC3E}">
        <p14:creationId xmlns:p14="http://schemas.microsoft.com/office/powerpoint/2010/main" val="14191340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3">
            <a:extLst xmlns:a="http://schemas.openxmlformats.org/drawingml/2006/main">
              <a:ext uri="{FF2B5EF4-FFF2-40B4-BE49-F238E27FC236}">
                <a16:creationId xmlns:a16="http://schemas.microsoft.com/office/drawing/2014/main" id="{CA40D4F6-7607-476B-96E9-36855B3A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6B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86B50"/>
                </a:solidFill>
                <a:latin typeface="Aptos"/>
                <a:ea typeface="Aptos"/>
                <a:cs typeface="Aptos"/>
              </a:rPr>
              <a:t>HOMEPAGE PROOF POINTS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69544BE-5539-48A5-8679-FC3B0118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676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homepage uses market signals and local events to make discovery feel active.</a:t>
            </a:r>
          </a:p>
        </p:txBody>
      </p:sp>
      <p:sp>
        <p:nvSpPr>
          <p:cNvPr id="3" name="body-3">
            <a:extLst xmlns:a="http://schemas.openxmlformats.org/drawingml/2006/main">
              <a:ext uri="{FF2B5EF4-FFF2-40B4-BE49-F238E27FC236}">
                <a16:creationId xmlns:a16="http://schemas.microsoft.com/office/drawing/2014/main" id="{89FD78B8-2386-4FBB-B400-9E23DF21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716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5A52"/>
                </a:solidFill>
                <a:latin typeface="Aptos"/>
                <a:ea typeface="Aptos"/>
                <a:cs typeface="Aptos"/>
              </a:rPr>
              <a:t>The content is not only a landing page; it gives buyers categories, local context, and reasons to continue exploring.</a:t>
            </a:r>
          </a:p>
        </p:txBody>
      </p:sp>
      <p:sp>
        <p:nvSpPr>
          <p:cNvPr id="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D1345E3E-EEC3-4E08-A646-2AFEA6D1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5" name="footer-source-3">
            <a:extLst xmlns:a="http://schemas.openxmlformats.org/drawingml/2006/main">
              <a:ext uri="{FF2B5EF4-FFF2-40B4-BE49-F238E27FC236}">
                <a16:creationId xmlns:a16="http://schemas.microsoft.com/office/drawing/2014/main" id="{F45482BB-68AD-4850-902D-1853F733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5A52"/>
                </a:solidFill>
                <a:latin typeface="Aptos"/>
                <a:ea typeface="Aptos"/>
                <a:cs typeface="Aptos"/>
              </a:rPr>
              <a:t>Source: stroque-art-portal.vercel.app and test-mode local dashboard</a:t>
            </a:r>
          </a:p>
        </p:txBody>
      </p:sp>
      <p:sp>
        <p:nvSpPr>
          <p:cNvPr id="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A9F71A15-582F-4AF1-896F-C94A2FCF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5A5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e2ae0c75546d6"/>
          <a:stretch xmlns:a="http://schemas.openxmlformats.org/drawingml/2006/main"/>
        </p:blipFill>
        <p:spPr>
          <a:xfrm xmlns:a="http://schemas.openxmlformats.org/drawingml/2006/main">
            <a:off x="774966" y="2800350"/>
            <a:ext cx="3155419" cy="2857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c9cf2e4324e26"/>
          <a:stretch xmlns:a="http://schemas.openxmlformats.org/drawingml/2006/main"/>
        </p:blipFill>
        <p:spPr>
          <a:xfrm xmlns:a="http://schemas.openxmlformats.org/drawingml/2006/main">
            <a:off x="4527816" y="2800350"/>
            <a:ext cx="3155419" cy="28575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65f09a1ba4a06"/>
          <a:stretch xmlns:a="http://schemas.openxmlformats.org/drawingml/2006/main"/>
        </p:blipFill>
        <p:spPr>
          <a:xfrm xmlns:a="http://schemas.openxmlformats.org/drawingml/2006/main">
            <a:off x="8280666" y="2800350"/>
            <a:ext cx="3155419" cy="2857500"/>
          </a:xfrm>
          <a:prstGeom xmlns:a="http://schemas.openxmlformats.org/drawingml/2006/main" prst="rect">
            <a:avLst/>
          </a:prstGeom>
        </p:spPr>
      </p:pic>
      <p:sp>
        <p:nvSpPr>
          <p:cNvPr id="10" name="home-labels">
            <a:extLst xmlns:a="http://schemas.openxmlformats.org/drawingml/2006/main">
              <a:ext uri="{FF2B5EF4-FFF2-40B4-BE49-F238E27FC236}">
                <a16:creationId xmlns:a16="http://schemas.microsoft.com/office/drawing/2014/main" id="{C09D7F13-6B2A-4400-9BF8-37D114CC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674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6B5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86B50"/>
                </a:solidFill>
                <a:latin typeface="Aptos"/>
                <a:ea typeface="Aptos"/>
                <a:cs typeface="Aptos"/>
              </a:rPr>
              <a:t>Project demand categories          Local art calendar          Artist of the week</a:t>
            </a:r>
          </a:p>
        </p:txBody>
      </p:sp>
    </p:spTree>
    <p:extLst>
      <p:ext uri="{BB962C8B-B14F-4D97-AF65-F5344CB8AC3E}">
        <p14:creationId xmlns:p14="http://schemas.microsoft.com/office/powerpoint/2010/main" val="12939078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4">
            <a:extLst xmlns:a="http://schemas.openxmlformats.org/drawingml/2006/main">
              <a:ext uri="{FF2B5EF4-FFF2-40B4-BE49-F238E27FC236}">
                <a16:creationId xmlns:a16="http://schemas.microsoft.com/office/drawing/2014/main" id="{BEF58960-3541-45BB-8017-EF95EA80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6B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86B50"/>
                </a:solidFill>
                <a:latin typeface="Aptos"/>
                <a:ea typeface="Aptos"/>
                <a:cs typeface="Aptos"/>
              </a:rPr>
              <a:t>HOMEPAGE EDUCATION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DC939F22-EBF8-48B2-ACD4-6C74EBDB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676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lower homepage turns browsing into a simple buyer workflow.</a:t>
            </a:r>
          </a:p>
        </p:txBody>
      </p:sp>
      <p:sp>
        <p:nvSpPr>
          <p:cNvPr id="3" name="body-4">
            <a:extLst xmlns:a="http://schemas.openxmlformats.org/drawingml/2006/main">
              <a:ext uri="{FF2B5EF4-FFF2-40B4-BE49-F238E27FC236}">
                <a16:creationId xmlns:a16="http://schemas.microsoft.com/office/drawing/2014/main" id="{A6BCB7FF-72D2-4FEC-A8A3-39A7986F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716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5A52"/>
                </a:solidFill>
                <a:latin typeface="Aptos"/>
                <a:ea typeface="Aptos"/>
                <a:cs typeface="Aptos"/>
              </a:rPr>
              <a:t>Art news explains why local art matters, and the process section reduces the commissioning path to three clear steps.</a:t>
            </a:r>
          </a:p>
        </p:txBody>
      </p:sp>
      <p:sp>
        <p:nvSpPr>
          <p:cNvPr id="4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09715294-31EF-46C7-A314-FE9B0747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5" name="footer-source-4">
            <a:extLst xmlns:a="http://schemas.openxmlformats.org/drawingml/2006/main">
              <a:ext uri="{FF2B5EF4-FFF2-40B4-BE49-F238E27FC236}">
                <a16:creationId xmlns:a16="http://schemas.microsoft.com/office/drawing/2014/main" id="{759D5337-57A5-4255-928D-B9317D44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5A52"/>
                </a:solidFill>
                <a:latin typeface="Aptos"/>
                <a:ea typeface="Aptos"/>
                <a:cs typeface="Aptos"/>
              </a:rPr>
              <a:t>Source: stroque-art-portal.vercel.app and test-mode local dashboard</a:t>
            </a:r>
          </a:p>
        </p:txBody>
      </p:sp>
      <p:sp>
        <p:nvSpPr>
          <p:cNvPr id="6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B95BBF51-373D-41C3-8525-B7A69805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5A5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44d0f73d74370"/>
          <a:stretch xmlns:a="http://schemas.openxmlformats.org/drawingml/2006/main"/>
        </p:blipFill>
        <p:spPr>
          <a:xfrm xmlns:a="http://schemas.openxmlformats.org/drawingml/2006/main">
            <a:off x="1572087" y="2724150"/>
            <a:ext cx="3218527" cy="291465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b8a6770d14707"/>
          <a:stretch xmlns:a="http://schemas.openxmlformats.org/drawingml/2006/main"/>
        </p:blipFill>
        <p:spPr>
          <a:xfrm xmlns:a="http://schemas.openxmlformats.org/drawingml/2006/main">
            <a:off x="7210887" y="2724150"/>
            <a:ext cx="3218527" cy="2914650"/>
          </a:xfrm>
          <a:prstGeom xmlns:a="http://schemas.openxmlformats.org/drawingml/2006/main" prst="rect">
            <a:avLst/>
          </a:prstGeom>
        </p:spPr>
      </p:pic>
      <p:sp>
        <p:nvSpPr>
          <p:cNvPr id="9" name="workflow-meaning-box">
            <a:extLst xmlns:a="http://schemas.openxmlformats.org/drawingml/2006/main">
              <a:ext uri="{FF2B5EF4-FFF2-40B4-BE49-F238E27FC236}">
                <a16:creationId xmlns:a16="http://schemas.microsoft.com/office/drawing/2014/main" id="{7FFE558F-A575-432A-82FA-F9F37575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753100"/>
            <a:ext cx="472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0" name="workflow-meaning-heading">
            <a:extLst xmlns:a="http://schemas.openxmlformats.org/drawingml/2006/main">
              <a:ext uri="{FF2B5EF4-FFF2-40B4-BE49-F238E27FC236}">
                <a16:creationId xmlns:a16="http://schemas.microsoft.com/office/drawing/2014/main" id="{328BBD3D-F0E3-425C-9892-8AE2BC2F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94360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Presentation takeaway</a:t>
            </a:r>
          </a:p>
        </p:txBody>
      </p:sp>
      <p:sp>
        <p:nvSpPr>
          <p:cNvPr id="11" name="workflow-meaning-body">
            <a:extLst xmlns:a="http://schemas.openxmlformats.org/drawingml/2006/main">
              <a:ext uri="{FF2B5EF4-FFF2-40B4-BE49-F238E27FC236}">
                <a16:creationId xmlns:a16="http://schemas.microsoft.com/office/drawing/2014/main" id="{BC05C69B-E7F1-4972-B6F8-41F20269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324600"/>
            <a:ext cx="4305300" cy="-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5A52"/>
                </a:solidFill>
                <a:latin typeface="Aptos"/>
                <a:ea typeface="Aptos"/>
                <a:cs typeface="Aptos"/>
              </a:rPr>
              <a:t>This is useful for a demo because it lets the presenter move from brand story to concrete product workflow without leaving the homepage.</a:t>
            </a:r>
          </a:p>
        </p:txBody>
      </p:sp>
    </p:spTree>
    <p:extLst>
      <p:ext uri="{BB962C8B-B14F-4D97-AF65-F5344CB8AC3E}">
        <p14:creationId xmlns:p14="http://schemas.microsoft.com/office/powerpoint/2010/main" val="18362109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5">
            <a:extLst xmlns:a="http://schemas.openxmlformats.org/drawingml/2006/main">
              <a:ext uri="{FF2B5EF4-FFF2-40B4-BE49-F238E27FC236}">
                <a16:creationId xmlns:a16="http://schemas.microsoft.com/office/drawing/2014/main" id="{16F800E6-0C95-4089-9B41-63036398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6B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86B50"/>
                </a:solidFill>
                <a:latin typeface="Aptos"/>
                <a:ea typeface="Aptos"/>
                <a:cs typeface="Aptos"/>
              </a:rPr>
              <a:t>ARTIST DISCOVERY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DDAB6BE-17DA-4CCB-89D2-1FF66C39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676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directory makes artist selection filterable instead of purely visual.</a:t>
            </a:r>
          </a:p>
        </p:txBody>
      </p:sp>
      <p:sp>
        <p:nvSpPr>
          <p:cNvPr id="3" name="body-5">
            <a:extLst xmlns:a="http://schemas.openxmlformats.org/drawingml/2006/main">
              <a:ext uri="{FF2B5EF4-FFF2-40B4-BE49-F238E27FC236}">
                <a16:creationId xmlns:a16="http://schemas.microsoft.com/office/drawing/2014/main" id="{BD2F6FBB-0DA4-411B-93F7-3C1B1AD8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716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5A52"/>
                </a:solidFill>
                <a:latin typeface="Aptos"/>
                <a:ea typeface="Aptos"/>
                <a:cs typeface="Aptos"/>
              </a:rPr>
              <a:t>Buyers can search by term, style, service, location, and budget. The result cards summarize the fields needed for a first shortlist.</a:t>
            </a:r>
          </a:p>
        </p:txBody>
      </p:sp>
      <p:sp>
        <p:nvSpPr>
          <p:cNvPr id="4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E97C4A0F-DDF1-4719-8C18-AB03F81D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5" name="footer-source-5">
            <a:extLst xmlns:a="http://schemas.openxmlformats.org/drawingml/2006/main">
              <a:ext uri="{FF2B5EF4-FFF2-40B4-BE49-F238E27FC236}">
                <a16:creationId xmlns:a16="http://schemas.microsoft.com/office/drawing/2014/main" id="{57B1B5C0-FA56-4300-9351-ECF9E61D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5A52"/>
                </a:solidFill>
                <a:latin typeface="Aptos"/>
                <a:ea typeface="Aptos"/>
                <a:cs typeface="Aptos"/>
              </a:rPr>
              <a:t>Source: stroque-art-portal.vercel.app and test-mode local dashboard</a:t>
            </a:r>
          </a:p>
        </p:txBody>
      </p:sp>
      <p:sp>
        <p:nvSpPr>
          <p:cNvPr id="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D7FCB6A9-7E35-4478-8EDB-3D8D8AED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5A5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cabbb61764722"/>
          <a:stretch xmlns:a="http://schemas.openxmlformats.org/drawingml/2006/main"/>
        </p:blipFill>
        <p:spPr>
          <a:xfrm xmlns:a="http://schemas.openxmlformats.org/drawingml/2006/main">
            <a:off x="1431785" y="2724150"/>
            <a:ext cx="3365780" cy="30480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38a3b76ca414e"/>
          <a:stretch xmlns:a="http://schemas.openxmlformats.org/drawingml/2006/main"/>
        </p:blipFill>
        <p:spPr>
          <a:xfrm xmlns:a="http://schemas.openxmlformats.org/drawingml/2006/main">
            <a:off x="7013435" y="2724150"/>
            <a:ext cx="3365780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2999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6">
            <a:extLst xmlns:a="http://schemas.openxmlformats.org/drawingml/2006/main">
              <a:ext uri="{FF2B5EF4-FFF2-40B4-BE49-F238E27FC236}">
                <a16:creationId xmlns:a16="http://schemas.microsoft.com/office/drawing/2014/main" id="{AC92832F-F501-42C8-A745-0853603C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6B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86B50"/>
                </a:solidFill>
                <a:latin typeface="Aptos"/>
                <a:ea typeface="Aptos"/>
                <a:cs typeface="Aptos"/>
              </a:rPr>
              <a:t>ARTIST PROFILE AND REQUEST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92B35A57-0453-4FA1-9E45-5CC0AEFA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676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artist profile connects visual proof to a structured project request.</a:t>
            </a:r>
          </a:p>
        </p:txBody>
      </p:sp>
      <p:sp>
        <p:nvSpPr>
          <p:cNvPr id="3" name="body-6">
            <a:extLst xmlns:a="http://schemas.openxmlformats.org/drawingml/2006/main">
              <a:ext uri="{FF2B5EF4-FFF2-40B4-BE49-F238E27FC236}">
                <a16:creationId xmlns:a16="http://schemas.microsoft.com/office/drawing/2014/main" id="{01E5A86C-F1D6-4CC6-B5E4-1EA78833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716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5A52"/>
                </a:solidFill>
                <a:latin typeface="Aptos"/>
                <a:ea typeface="Aptos"/>
                <a:cs typeface="Aptos"/>
              </a:rPr>
              <a:t>The page shows portfolio evidence, services, price, location, styles, and a demo request form with the project details artists need.</a:t>
            </a:r>
          </a:p>
        </p:txBody>
      </p:sp>
      <p:sp>
        <p:nvSpPr>
          <p:cNvPr id="4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1404C0C7-3674-4682-BE77-42A3C951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5" name="footer-source-6">
            <a:extLst xmlns:a="http://schemas.openxmlformats.org/drawingml/2006/main">
              <a:ext uri="{FF2B5EF4-FFF2-40B4-BE49-F238E27FC236}">
                <a16:creationId xmlns:a16="http://schemas.microsoft.com/office/drawing/2014/main" id="{7DD2E459-CECE-404A-8CF0-E4E489BF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5A52"/>
                </a:solidFill>
                <a:latin typeface="Aptos"/>
                <a:ea typeface="Aptos"/>
                <a:cs typeface="Aptos"/>
              </a:rPr>
              <a:t>Source: stroque-art-portal.vercel.app and test-mode local dashboard</a:t>
            </a:r>
          </a:p>
        </p:txBody>
      </p:sp>
      <p:sp>
        <p:nvSpPr>
          <p:cNvPr id="6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B9D71382-4E3E-4E1E-BE00-D152FB38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5A5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3edde51224f1e"/>
          <a:stretch xmlns:a="http://schemas.openxmlformats.org/drawingml/2006/main"/>
        </p:blipFill>
        <p:spPr>
          <a:xfrm xmlns:a="http://schemas.openxmlformats.org/drawingml/2006/main">
            <a:off x="1379195" y="2667000"/>
            <a:ext cx="3470960" cy="31432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1a9b26a02472c"/>
          <a:stretch xmlns:a="http://schemas.openxmlformats.org/drawingml/2006/main"/>
        </p:blipFill>
        <p:spPr>
          <a:xfrm xmlns:a="http://schemas.openxmlformats.org/drawingml/2006/main">
            <a:off x="6960845" y="2667000"/>
            <a:ext cx="3470960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3470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7">
            <a:extLst xmlns:a="http://schemas.openxmlformats.org/drawingml/2006/main">
              <a:ext uri="{FF2B5EF4-FFF2-40B4-BE49-F238E27FC236}">
                <a16:creationId xmlns:a16="http://schemas.microsoft.com/office/drawing/2014/main" id="{2ABE23A3-0953-4F7E-9268-C41B71A9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6B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86B50"/>
                </a:solidFill>
                <a:latin typeface="Aptos"/>
                <a:ea typeface="Aptos"/>
                <a:cs typeface="Aptos"/>
              </a:rPr>
              <a:t>AUTHENTICATION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DCF0F09E-B97A-4E3F-9964-26C861C2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676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Sign up and login separate the two sides of the marketplace.</a:t>
            </a:r>
          </a:p>
        </p:txBody>
      </p:sp>
      <p:sp>
        <p:nvSpPr>
          <p:cNvPr id="3" name="body-7">
            <a:extLst xmlns:a="http://schemas.openxmlformats.org/drawingml/2006/main">
              <a:ext uri="{FF2B5EF4-FFF2-40B4-BE49-F238E27FC236}">
                <a16:creationId xmlns:a16="http://schemas.microsoft.com/office/drawing/2014/main" id="{9645341F-F8B0-441F-91DC-ED24ACC2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716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5A52"/>
                </a:solidFill>
                <a:latin typeface="Aptos"/>
                <a:ea typeface="Aptos"/>
                <a:cs typeface="Aptos"/>
              </a:rPr>
              <a:t>The auth screens establish role selection for new users and provide demo credentials in the footer for portfolio review.</a:t>
            </a:r>
          </a:p>
        </p:txBody>
      </p:sp>
      <p:sp>
        <p:nvSpPr>
          <p:cNvPr id="4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645FB1AD-7EDD-4E47-9035-8B87671D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5" name="footer-source-7">
            <a:extLst xmlns:a="http://schemas.openxmlformats.org/drawingml/2006/main">
              <a:ext uri="{FF2B5EF4-FFF2-40B4-BE49-F238E27FC236}">
                <a16:creationId xmlns:a16="http://schemas.microsoft.com/office/drawing/2014/main" id="{912E6211-6220-4BD4-9CF1-281F3929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5A52"/>
                </a:solidFill>
                <a:latin typeface="Aptos"/>
                <a:ea typeface="Aptos"/>
                <a:cs typeface="Aptos"/>
              </a:rPr>
              <a:t>Source: stroque-art-portal.vercel.app and test-mode local dashboard</a:t>
            </a:r>
          </a:p>
        </p:txBody>
      </p:sp>
      <p:sp>
        <p:nvSpPr>
          <p:cNvPr id="6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A7884C87-C22B-405E-BF44-E4A3BD30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5A5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58a6145bc4ed9"/>
          <a:stretch xmlns:a="http://schemas.openxmlformats.org/drawingml/2006/main"/>
        </p:blipFill>
        <p:spPr>
          <a:xfrm xmlns:a="http://schemas.openxmlformats.org/drawingml/2006/main">
            <a:off x="1613166" y="2781300"/>
            <a:ext cx="3155419" cy="28575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ef5bd17d248c7"/>
          <a:stretch xmlns:a="http://schemas.openxmlformats.org/drawingml/2006/main"/>
        </p:blipFill>
        <p:spPr>
          <a:xfrm xmlns:a="http://schemas.openxmlformats.org/drawingml/2006/main">
            <a:off x="7423416" y="2781300"/>
            <a:ext cx="3155419" cy="2857500"/>
          </a:xfrm>
          <a:prstGeom xmlns:a="http://schemas.openxmlformats.org/drawingml/2006/main" prst="rect">
            <a:avLst/>
          </a:prstGeom>
        </p:spPr>
      </p:pic>
      <p:sp>
        <p:nvSpPr>
          <p:cNvPr id="9" name="auth-labels">
            <a:extLst xmlns:a="http://schemas.openxmlformats.org/drawingml/2006/main">
              <a:ext uri="{FF2B5EF4-FFF2-40B4-BE49-F238E27FC236}">
                <a16:creationId xmlns:a16="http://schemas.microsoft.com/office/drawing/2014/main" id="{7663AE52-8EEC-45AC-95F4-8B773B94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293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86B5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86B50"/>
                </a:solidFill>
                <a:latin typeface="Aptos"/>
                <a:ea typeface="Aptos"/>
                <a:cs typeface="Aptos"/>
              </a:rPr>
              <a:t>Sign up captures name, email, password, and role.                       Login opens the right dashboard for the account.</a:t>
            </a:r>
          </a:p>
        </p:txBody>
      </p:sp>
    </p:spTree>
    <p:extLst>
      <p:ext uri="{BB962C8B-B14F-4D97-AF65-F5344CB8AC3E}">
        <p14:creationId xmlns:p14="http://schemas.microsoft.com/office/powerpoint/2010/main" val="12821739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8">
            <a:extLst xmlns:a="http://schemas.openxmlformats.org/drawingml/2006/main">
              <a:ext uri="{FF2B5EF4-FFF2-40B4-BE49-F238E27FC236}">
                <a16:creationId xmlns:a16="http://schemas.microsoft.com/office/drawing/2014/main" id="{12472F69-82A1-4539-8908-B57E5CE5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6B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86B50"/>
                </a:solidFill>
                <a:latin typeface="Aptos"/>
                <a:ea typeface="Aptos"/>
                <a:cs typeface="Aptos"/>
              </a:rPr>
              <a:t>BUSINESS DASHBOARD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9372B72E-A1B2-4B9B-9714-4EADF3BF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676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Businesses can maintain profile context and track sent requests.</a:t>
            </a:r>
          </a:p>
        </p:txBody>
      </p:sp>
      <p:sp>
        <p:nvSpPr>
          <p:cNvPr id="3" name="body-8">
            <a:extLst xmlns:a="http://schemas.openxmlformats.org/drawingml/2006/main">
              <a:ext uri="{FF2B5EF4-FFF2-40B4-BE49-F238E27FC236}">
                <a16:creationId xmlns:a16="http://schemas.microsoft.com/office/drawing/2014/main" id="{3CCE53BA-EC2B-403B-AC0C-DD9DD54F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716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5A52"/>
                </a:solidFill>
                <a:latin typeface="Aptos"/>
                <a:ea typeface="Aptos"/>
                <a:cs typeface="Aptos"/>
              </a:rPr>
              <a:t>The test-mode business account shows saved business data and a request card with artist, space type, description, status, budget, timeline, and style.</a:t>
            </a:r>
          </a:p>
        </p:txBody>
      </p:sp>
      <p:sp>
        <p:nvSpPr>
          <p:cNvPr id="4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F20D1E96-CC01-4811-AEBB-EFC881DC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5" name="footer-source-8">
            <a:extLst xmlns:a="http://schemas.openxmlformats.org/drawingml/2006/main">
              <a:ext uri="{FF2B5EF4-FFF2-40B4-BE49-F238E27FC236}">
                <a16:creationId xmlns:a16="http://schemas.microsoft.com/office/drawing/2014/main" id="{77919764-4B29-49C9-912D-FA1CCCAF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5A52"/>
                </a:solidFill>
                <a:latin typeface="Aptos"/>
                <a:ea typeface="Aptos"/>
                <a:cs typeface="Aptos"/>
              </a:rPr>
              <a:t>Source: stroque-art-portal.vercel.app and test-mode local dashboard</a:t>
            </a:r>
          </a:p>
        </p:txBody>
      </p:sp>
      <p:sp>
        <p:nvSpPr>
          <p:cNvPr id="6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7CF378D0-639F-4577-B180-01218739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5A5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6bafbdded4bf0"/>
          <a:stretch xmlns:a="http://schemas.openxmlformats.org/drawingml/2006/main"/>
        </p:blipFill>
        <p:spPr>
          <a:xfrm xmlns:a="http://schemas.openxmlformats.org/drawingml/2006/main">
            <a:off x="1407770" y="2686050"/>
            <a:ext cx="3470960" cy="31432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48f6f865d48de"/>
          <a:stretch xmlns:a="http://schemas.openxmlformats.org/drawingml/2006/main"/>
        </p:blipFill>
        <p:spPr>
          <a:xfrm xmlns:a="http://schemas.openxmlformats.org/drawingml/2006/main">
            <a:off x="6932270" y="2686050"/>
            <a:ext cx="3470960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923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9">
            <a:extLst xmlns:a="http://schemas.openxmlformats.org/drawingml/2006/main">
              <a:ext uri="{FF2B5EF4-FFF2-40B4-BE49-F238E27FC236}">
                <a16:creationId xmlns:a16="http://schemas.microsoft.com/office/drawing/2014/main" id="{894B5641-5828-41AF-B474-E09DE270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6B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86B50"/>
                </a:solidFill>
                <a:latin typeface="Aptos"/>
                <a:ea typeface="Aptos"/>
                <a:cs typeface="Aptos"/>
              </a:rPr>
              <a:t>ARTIST DASHBOARD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F31478BE-7F9E-4874-A79B-90F81CAA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676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Artists manage profiles and incoming requests.</a:t>
            </a:r>
          </a:p>
        </p:txBody>
      </p:sp>
      <p:sp>
        <p:nvSpPr>
          <p:cNvPr id="3" name="body-9">
            <a:extLst xmlns:a="http://schemas.openxmlformats.org/drawingml/2006/main">
              <a:ext uri="{FF2B5EF4-FFF2-40B4-BE49-F238E27FC236}">
                <a16:creationId xmlns:a16="http://schemas.microsoft.com/office/drawing/2014/main" id="{16BDE429-3F77-4063-B13A-BCC1A9C0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716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5A52"/>
                </a:solidFill>
                <a:latin typeface="Aptos"/>
                <a:ea typeface="Aptos"/>
                <a:cs typeface="Aptos"/>
              </a:rPr>
              <a:t>The artist dashboard supports profile updates, portfolio images, pricing, services, and request status management in test mode.</a:t>
            </a:r>
          </a:p>
        </p:txBody>
      </p:sp>
      <p:sp>
        <p:nvSpPr>
          <p:cNvPr id="4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6B9DB568-4CD7-4E33-926A-A9965D8D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5" name="footer-source-9">
            <a:extLst xmlns:a="http://schemas.openxmlformats.org/drawingml/2006/main">
              <a:ext uri="{FF2B5EF4-FFF2-40B4-BE49-F238E27FC236}">
                <a16:creationId xmlns:a16="http://schemas.microsoft.com/office/drawing/2014/main" id="{F4969C57-E9AB-4ADA-AAFC-4B576A92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5A52"/>
                </a:solidFill>
                <a:latin typeface="Aptos"/>
                <a:ea typeface="Aptos"/>
                <a:cs typeface="Aptos"/>
              </a:rPr>
              <a:t>Source: stroque-art-portal.vercel.app and test-mode local dashboard</a:t>
            </a:r>
          </a:p>
        </p:txBody>
      </p:sp>
      <p:sp>
        <p:nvSpPr>
          <p:cNvPr id="6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64A58DB1-4111-4B05-A9FE-CBDBA75C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5A5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f7e5a32e14b66"/>
          <a:stretch xmlns:a="http://schemas.openxmlformats.org/drawingml/2006/main"/>
        </p:blipFill>
        <p:spPr>
          <a:xfrm xmlns:a="http://schemas.openxmlformats.org/drawingml/2006/main">
            <a:off x="1407770" y="2686050"/>
            <a:ext cx="3470960" cy="31432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5d6d37c584d43"/>
          <a:stretch xmlns:a="http://schemas.openxmlformats.org/drawingml/2006/main"/>
        </p:blipFill>
        <p:spPr>
          <a:xfrm xmlns:a="http://schemas.openxmlformats.org/drawingml/2006/main">
            <a:off x="6932270" y="2686050"/>
            <a:ext cx="3470960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229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01885F40-B403-4648-A6ED-1FB7231A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86B5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86B50"/>
                </a:solidFill>
                <a:latin typeface="Aptos"/>
                <a:ea typeface="Aptos"/>
                <a:cs typeface="Aptos"/>
              </a:rPr>
              <a:t>SYNTHESIS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7EBB050D-8D29-431B-B376-AE6C036C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810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test-mode site is ready to present as an end-to-end marketplace prototype.</a:t>
            </a:r>
          </a:p>
        </p:txBody>
      </p:sp>
      <p:sp>
        <p:nvSpPr>
          <p:cNvPr id="3" name="close-1-box">
            <a:extLst xmlns:a="http://schemas.openxmlformats.org/drawingml/2006/main">
              <a:ext uri="{FF2B5EF4-FFF2-40B4-BE49-F238E27FC236}">
                <a16:creationId xmlns:a16="http://schemas.microsoft.com/office/drawing/2014/main" id="{40040A94-1DC6-4445-9EE2-2684BAA3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3124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4" name="close-1-heading">
            <a:extLst xmlns:a="http://schemas.openxmlformats.org/drawingml/2006/main">
              <a:ext uri="{FF2B5EF4-FFF2-40B4-BE49-F238E27FC236}">
                <a16:creationId xmlns:a16="http://schemas.microsoft.com/office/drawing/2014/main" id="{009E9EB0-EE8E-4BF5-BA48-0691E2B5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813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Buyer path</a:t>
            </a:r>
          </a:p>
        </p:txBody>
      </p:sp>
      <p:sp>
        <p:nvSpPr>
          <p:cNvPr id="5" name="close-1-body">
            <a:extLst xmlns:a="http://schemas.openxmlformats.org/drawingml/2006/main">
              <a:ext uri="{FF2B5EF4-FFF2-40B4-BE49-F238E27FC236}">
                <a16:creationId xmlns:a16="http://schemas.microsoft.com/office/drawing/2014/main" id="{80A9CF48-D97C-40A7-994D-DEBF951F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2705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5A52"/>
                </a:solidFill>
                <a:latin typeface="Aptos"/>
                <a:ea typeface="Aptos"/>
                <a:cs typeface="Aptos"/>
              </a:rPr>
              <a:t>Homepage framing -&gt; artist discovery -&gt; profile review -&gt; structured project request.</a:t>
            </a:r>
          </a:p>
        </p:txBody>
      </p:sp>
      <p:sp>
        <p:nvSpPr>
          <p:cNvPr id="6" name="close-2-box">
            <a:extLst xmlns:a="http://schemas.openxmlformats.org/drawingml/2006/main">
              <a:ext uri="{FF2B5EF4-FFF2-40B4-BE49-F238E27FC236}">
                <a16:creationId xmlns:a16="http://schemas.microsoft.com/office/drawing/2014/main" id="{5623C5D7-73FA-4A12-92B9-A3F921D7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90850"/>
            <a:ext cx="3124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7" name="close-2-heading">
            <a:extLst xmlns:a="http://schemas.openxmlformats.org/drawingml/2006/main">
              <a:ext uri="{FF2B5EF4-FFF2-40B4-BE49-F238E27FC236}">
                <a16:creationId xmlns:a16="http://schemas.microsoft.com/office/drawing/2014/main" id="{609FC7A9-BD8A-4DF2-81AC-ED8D50AE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813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Artist path</a:t>
            </a:r>
          </a:p>
        </p:txBody>
      </p:sp>
      <p:sp>
        <p:nvSpPr>
          <p:cNvPr id="8" name="close-2-body">
            <a:extLst xmlns:a="http://schemas.openxmlformats.org/drawingml/2006/main">
              <a:ext uri="{FF2B5EF4-FFF2-40B4-BE49-F238E27FC236}">
                <a16:creationId xmlns:a16="http://schemas.microsoft.com/office/drawing/2014/main" id="{7C042EB7-8DE5-49F7-9895-F5A23EFA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62350"/>
            <a:ext cx="2705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5A52"/>
                </a:solidFill>
                <a:latin typeface="Aptos"/>
                <a:ea typeface="Aptos"/>
                <a:cs typeface="Aptos"/>
              </a:rPr>
              <a:t>Signup/login -&gt; profile and portfolio management -&gt; incoming request status updates.</a:t>
            </a:r>
          </a:p>
        </p:txBody>
      </p:sp>
      <p:sp>
        <p:nvSpPr>
          <p:cNvPr id="9" name="close-3-box">
            <a:extLst xmlns:a="http://schemas.openxmlformats.org/drawingml/2006/main">
              <a:ext uri="{FF2B5EF4-FFF2-40B4-BE49-F238E27FC236}">
                <a16:creationId xmlns:a16="http://schemas.microsoft.com/office/drawing/2014/main" id="{2C9595EB-8C9A-4E12-BE67-9BFA25E5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90850"/>
            <a:ext cx="3124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0" name="close-3-heading">
            <a:extLst xmlns:a="http://schemas.openxmlformats.org/drawingml/2006/main">
              <a:ext uri="{FF2B5EF4-FFF2-40B4-BE49-F238E27FC236}">
                <a16:creationId xmlns:a16="http://schemas.microsoft.com/office/drawing/2014/main" id="{0F283057-BC85-4B6C-A43B-9FE92417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813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Demo value</a:t>
            </a:r>
          </a:p>
        </p:txBody>
      </p:sp>
      <p:sp>
        <p:nvSpPr>
          <p:cNvPr id="11" name="close-3-body">
            <a:extLst xmlns:a="http://schemas.openxmlformats.org/drawingml/2006/main">
              <a:ext uri="{FF2B5EF4-FFF2-40B4-BE49-F238E27FC236}">
                <a16:creationId xmlns:a16="http://schemas.microsoft.com/office/drawing/2014/main" id="{5DDBDF10-8770-4A7B-A52C-92501C82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62350"/>
            <a:ext cx="2705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5A52"/>
                </a:solidFill>
                <a:latin typeface="Aptos"/>
                <a:ea typeface="Aptos"/>
                <a:cs typeface="Aptos"/>
              </a:rPr>
              <a:t>Test-mode data makes the core workflow presentable without production accounts or a database setup.</a:t>
            </a:r>
          </a:p>
        </p:txBody>
      </p:sp>
      <p:sp>
        <p:nvSpPr>
          <p:cNvPr id="12" name="close-note">
            <a:extLst xmlns:a="http://schemas.openxmlformats.org/drawingml/2006/main">
              <a:ext uri="{FF2B5EF4-FFF2-40B4-BE49-F238E27FC236}">
                <a16:creationId xmlns:a16="http://schemas.microsoft.com/office/drawing/2014/main" id="{20608E2D-5CD5-4598-A916-60E9A36D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6A4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96A4C"/>
                </a:solidFill>
                <a:latin typeface="Aptos"/>
                <a:ea typeface="Aptos"/>
                <a:cs typeface="Aptos"/>
              </a:rPr>
              <a:t>Recommended live demo order: hero, artist directory, artist profile, request form, business dashboard, artist dashboard.</a:t>
            </a:r>
          </a:p>
        </p:txBody>
      </p:sp>
      <p:sp>
        <p:nvSpPr>
          <p:cNvPr id="13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DD8CBC44-9C25-4153-B1A1-0E1A9CC1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4" name="footer-source-10">
            <a:extLst xmlns:a="http://schemas.openxmlformats.org/drawingml/2006/main">
              <a:ext uri="{FF2B5EF4-FFF2-40B4-BE49-F238E27FC236}">
                <a16:creationId xmlns:a16="http://schemas.microsoft.com/office/drawing/2014/main" id="{EF36C5F2-BB57-4496-A759-53E32A28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5A52"/>
                </a:solidFill>
                <a:latin typeface="Aptos"/>
                <a:ea typeface="Aptos"/>
                <a:cs typeface="Aptos"/>
              </a:rPr>
              <a:t>Source: stroque-art-portal.vercel.app and test-mode local dashboard</a:t>
            </a:r>
          </a:p>
        </p:txBody>
      </p:sp>
      <p:sp>
        <p:nvSpPr>
          <p:cNvPr id="15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7A5F92D7-4746-479E-B430-FF1141F3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5A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5A5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015269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2026-07-10T16:35:32.8350000Z</dcterms:created>
  <dcterms:modified xsi:type="dcterms:W3CDTF">2026-07-10T16:35:32.8350000Z</dcterms:modified>
</coreProperties>
</file>